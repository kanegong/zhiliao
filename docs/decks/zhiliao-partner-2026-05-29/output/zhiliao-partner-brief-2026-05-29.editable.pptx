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24507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ZHILIAO · FORMULA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232082" y="326975"/>
            <a:ext cx="13255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PARTNER BRIEF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0350" y="1422350"/>
            <a:ext cx="79018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FOOD R&amp;D AI WORKBENCH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0350" y="1733401"/>
            <a:ext cx="7901889" cy="201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92"/>
              </a:lnSpc>
              <a:spcBef>
                <a:spcPts val="1400"/>
              </a:spcBef>
              <a:buNone/>
            </a:pPr>
            <a:r>
              <a:rPr lang="en-US" sz="54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把食品研发，
</a:t>
            </a:r>
            <a:pPr algn="l" indent="0" marL="0">
              <a:lnSpc>
                <a:spcPts val="5292"/>
              </a:lnSpc>
              <a:spcBef>
                <a:spcPts val="1400"/>
              </a:spcBef>
              <a:buNone/>
            </a:pPr>
            <a:r>
              <a:rPr lang="en-US" sz="5400" b="1" dirty="0">
                <a:solidFill>
                  <a:srgbClr val="F0A55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放回一张清晰</a:t>
            </a:r>
            <a:pPr algn="l" indent="0" marL="0">
              <a:lnSpc>
                <a:spcPts val="5292"/>
              </a:lnSpc>
              <a:spcBef>
                <a:spcPts val="1400"/>
              </a:spcBef>
              <a:buNone/>
            </a:pPr>
            <a:endParaRPr lang="en-US" sz="5400" dirty="0"/>
          </a:p>
          <a:p>
            <a:pPr algn="l" indent="0" marL="0">
              <a:lnSpc>
                <a:spcPts val="5292"/>
              </a:lnSpc>
              <a:spcBef>
                <a:spcPts val="1400"/>
              </a:spcBef>
              <a:buNone/>
            </a:pPr>
            <a:r>
              <a:rPr lang="en-US" sz="54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的智能实验台。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60350" y="4079379"/>
            <a:ext cx="7254139" cy="69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2"/>
              </a:lnSpc>
              <a:spcBef>
                <a:spcPts val="2600"/>
              </a:spcBef>
              <a:buNone/>
            </a:pPr>
            <a:r>
              <a:rPr lang="en-US" sz="1600" b="1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知料帮助食品企业从一个产品想法，快速形成合规配方方案、可信原料依据与供应商连接。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56699" y="1676400"/>
            <a:ext cx="3174950" cy="4038600"/>
          </a:xfrm>
          <a:prstGeom prst="roundRect">
            <a:avLst>
              <a:gd name="adj" fmla="val 5200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69375" y="1889075"/>
            <a:ext cx="28045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CURRENT MVP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569375" y="2301776"/>
            <a:ext cx="2804592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569375" y="2860625"/>
            <a:ext cx="28045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7E746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原料数据 · Ingredients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69375" y="3270200"/>
            <a:ext cx="2804592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64B98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569375" y="3829050"/>
            <a:ext cx="28045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7E746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法规记录 · Regulations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69375" y="4238625"/>
            <a:ext cx="2804592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78A6C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69375" y="4797475"/>
            <a:ext cx="28045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7E746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供应商 · Suppliers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350" y="6499324"/>
            <a:ext cx="8614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ZHILIAO-AI.CN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647634" y="6499324"/>
            <a:ext cx="19216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 DISCUSSION DRAFT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1307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D514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ZHILIAO · THESIS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7301" y="1320701"/>
            <a:ext cx="10622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THE CENTRAL BELIEF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87301" y="1644551"/>
            <a:ext cx="10622229" cy="102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spcBef>
                <a:spcPts val="1500"/>
              </a:spcBef>
              <a:buNone/>
            </a:pPr>
            <a:r>
              <a:rPr lang="en-US" sz="3800" dirty="0">
                <a:solidFill>
                  <a:srgbClr val="171A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食品企业缺的不是另一个聊天机器人，</a:t>
            </a:r>
            <a:endParaRPr lang="en-US" sz="3800" dirty="0"/>
          </a:p>
          <a:p>
            <a:pPr algn="l" indent="0" marL="0">
              <a:lnSpc>
                <a:spcPts val="4028"/>
              </a:lnSpc>
              <a:spcBef>
                <a:spcPts val="1500"/>
              </a:spcBef>
              <a:buNone/>
            </a:pPr>
            <a:r>
              <a:rPr lang="en-US" sz="3800" dirty="0">
                <a:solidFill>
                  <a:srgbClr val="171A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而是一个能把</a:t>
            </a:r>
            <a:endParaRPr lang="en-US" sz="3800" dirty="0"/>
          </a:p>
          <a:p>
            <a:pPr algn="l" indent="0" marL="0">
              <a:lnSpc>
                <a:spcPts val="4028"/>
              </a:lnSpc>
              <a:spcBef>
                <a:spcPts val="1500"/>
              </a:spcBef>
              <a:buNone/>
            </a:pPr>
            <a:r>
              <a:rPr lang="en-US" sz="3800" b="1" dirty="0">
                <a:solidFill>
                  <a:srgbClr val="A45F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想法变成方案</a:t>
            </a:r>
            <a:pPr algn="l" indent="0" marL="0">
              <a:lnSpc>
                <a:spcPts val="4028"/>
              </a:lnSpc>
              <a:spcBef>
                <a:spcPts val="1500"/>
              </a:spcBef>
              <a:buNone/>
            </a:pPr>
            <a:r>
              <a:rPr lang="en-US" sz="3800" dirty="0">
                <a:solidFill>
                  <a:srgbClr val="171A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的研发工作台。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87301" y="3682901"/>
            <a:ext cx="3429000" cy="1577876"/>
          </a:xfrm>
          <a:prstGeom prst="roundRect">
            <a:avLst>
              <a:gd name="adj" fmla="val 10463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9976" y="3895576"/>
            <a:ext cx="3063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9976" y="4143226"/>
            <a:ext cx="30637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配方路线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9976" y="4501902"/>
            <a:ext cx="3063722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把目标人群、剂型、成本与风味翻译成可讨论的原料组合。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1351" y="3682901"/>
            <a:ext cx="3429149" cy="1577876"/>
          </a:xfrm>
          <a:prstGeom prst="roundRect">
            <a:avLst>
              <a:gd name="adj" fmla="val 10463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94027" y="3895576"/>
            <a:ext cx="3063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94027" y="4143226"/>
            <a:ext cx="30638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合规边界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4027" y="4501902"/>
            <a:ext cx="3063874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普通食品、保健食品、新食品原料、营养强化剂的边界实时可见。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75550" y="3682901"/>
            <a:ext cx="3429000" cy="1577876"/>
          </a:xfrm>
          <a:prstGeom prst="roundRect">
            <a:avLst>
              <a:gd name="adj" fmla="val 10463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88226" y="3895576"/>
            <a:ext cx="3063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88226" y="4143226"/>
            <a:ext cx="30637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供应商连接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8226" y="4501902"/>
            <a:ext cx="3063722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让研发方案自然连接到可采购、可询样、可报价的原料网络。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350" y="6499324"/>
            <a:ext cx="1259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AI IS THE INTERFACE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972377" y="6499324"/>
            <a:ext cx="15904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 + WORKFLOW + SUPPLY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5718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WHY NOW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0350" y="1219200"/>
            <a:ext cx="46634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FRAGMENTED WORK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0350" y="1504950"/>
            <a:ext cx="4663440" cy="102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新品研发，</a:t>
            </a:r>
            <a:endParaRPr lang="en-US" sz="3800" dirty="0"/>
          </a:p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仍然在碎片里完成。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60350" y="2781895"/>
            <a:ext cx="4663440" cy="69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2"/>
              </a:lnSpc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研发、法规、采购、市场各自查资料；一个初步方案往往需要在多个系统和微信群之间来回拼接。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80199" y="1269950"/>
            <a:ext cx="5651450" cy="814239"/>
          </a:xfrm>
          <a:prstGeom prst="roundRect">
            <a:avLst>
              <a:gd name="adj" fmla="val 1871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54775" y="1444526"/>
            <a:ext cx="5408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INGREDIENT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54775" y="1663601"/>
            <a:ext cx="5408346" cy="24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7"/>
              </a:lnSpc>
              <a:buNone/>
            </a:pPr>
            <a:r>
              <a:rPr lang="en-US" sz="125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原料资料散落在供应商 PDF、展会资料、1688、公众号和个人经验中。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80199" y="2236589"/>
            <a:ext cx="5651450" cy="814239"/>
          </a:xfrm>
          <a:prstGeom prst="roundRect">
            <a:avLst>
              <a:gd name="adj" fmla="val 1871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54775" y="2411164"/>
            <a:ext cx="5408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54775" y="2630239"/>
            <a:ext cx="5408346" cy="24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7"/>
              </a:lnSpc>
              <a:buNone/>
            </a:pPr>
            <a:r>
              <a:rPr lang="en-US" sz="125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法规标准持续更新，普通食品与保健食品表达边界越来越敏感。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80199" y="3203228"/>
            <a:ext cx="5651450" cy="1060252"/>
          </a:xfrm>
          <a:prstGeom prst="roundRect">
            <a:avLst>
              <a:gd name="adj" fmla="val 1437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54775" y="3377803"/>
            <a:ext cx="5408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54775" y="3596878"/>
            <a:ext cx="5408346" cy="49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7"/>
              </a:lnSpc>
              <a:buNone/>
            </a:pPr>
            <a:r>
              <a:rPr lang="en-US" sz="125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内部立项需要配方、证据、风险、成本、供应商一起出现，而不是单点答案。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80199" y="4415879"/>
            <a:ext cx="5651450" cy="814239"/>
          </a:xfrm>
          <a:prstGeom prst="roundRect">
            <a:avLst>
              <a:gd name="adj" fmla="val 1871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54775" y="4590455"/>
            <a:ext cx="5408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54775" y="4809530"/>
            <a:ext cx="5408346" cy="24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7"/>
              </a:lnSpc>
              <a:buNone/>
            </a:pPr>
            <a:r>
              <a:rPr lang="en-US" sz="125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谁能把碎片资料组织成工作流，谁就能成为食品研发的新入口。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350" y="6499324"/>
            <a:ext cx="13915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PAIN: FRAGMENTED DATA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972377" y="6499324"/>
            <a:ext cx="15904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OPPORTUNITY: WORKFLOW OS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8986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5320" y="1168301"/>
            <a:ext cx="10881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 A COMPLIANCE TOOL. NOT A GENERIC CHATBOT.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5320" y="1479352"/>
            <a:ext cx="10881360" cy="5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28"/>
              </a:lnSpc>
              <a:spcBef>
                <a:spcPts val="1400"/>
              </a:spcBef>
              <a:buNone/>
            </a:pPr>
            <a:r>
              <a:rPr lang="en-US" sz="38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知料 = </a:t>
            </a:r>
            <a:pPr algn="ctr" indent="0" marL="0">
              <a:lnSpc>
                <a:spcPts val="4028"/>
              </a:lnSpc>
              <a:spcBef>
                <a:spcPts val="1400"/>
              </a:spcBef>
              <a:buNone/>
            </a:pPr>
            <a:r>
              <a:rPr lang="en-US" sz="3800" b="1" dirty="0">
                <a:solidFill>
                  <a:srgbClr val="F0A55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食品研发 AI 工作台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886001" y="2244775"/>
            <a:ext cx="8419999" cy="69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2"/>
              </a:lnSpc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从产品想法到合规配方方案，再到可信原料供应商连接。合规是信任层，供应链是商业化层。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3810000"/>
            <a:ext cx="3132683" cy="1612702"/>
          </a:xfrm>
          <a:prstGeom prst="roundRect">
            <a:avLst>
              <a:gd name="adj" fmla="val 10237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31875" y="4022675"/>
            <a:ext cx="27614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7E746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不是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31875" y="4305151"/>
            <a:ext cx="276147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法规问答工具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31875" y="4663827"/>
            <a:ext cx="2761479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只回答“能不能说”太窄，商业想象力有限。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9584" y="3810000"/>
            <a:ext cx="3132683" cy="1612702"/>
          </a:xfrm>
          <a:prstGeom prst="roundRect">
            <a:avLst>
              <a:gd name="adj" fmla="val 10237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0A550"/>
            </a:solidFill>
          </a:ln>
          <a:effectLst>
            <a:outerShdw sx="100000" sy="100000" kx="0" ky="0" algn="bl" rotWithShape="0" blurRad="457200" dist="50800" dir="16200000">
              <a:srgbClr val="f0a55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2259" y="4022675"/>
            <a:ext cx="27614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7E746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而是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42259" y="4305151"/>
            <a:ext cx="276147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F0A55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研发方案引擎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42259" y="4663827"/>
            <a:ext cx="2761479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把配方、法规、证据、供应商组织成可执行方案。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39968" y="3810000"/>
            <a:ext cx="3132832" cy="1612702"/>
          </a:xfrm>
          <a:prstGeom prst="roundRect">
            <a:avLst>
              <a:gd name="adj" fmla="val 10237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52643" y="4022675"/>
            <a:ext cx="27616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7E746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最终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52643" y="4305151"/>
            <a:ext cx="27616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行业工作流入口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52643" y="4663827"/>
            <a:ext cx="2761631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沉淀企业项目、供应商数据和行业知识图谱。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350" y="6499324"/>
            <a:ext cx="1988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POSITION: FORMULA INTELLIGENCE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98000" y="6499324"/>
            <a:ext cx="25843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TRUST IS A LAYER, NOT THE WHOLE PRODUCT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1062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D514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CORE WORKFLOW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1101" y="1168301"/>
            <a:ext cx="42748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ONE KILLER FLOW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1101" y="1454051"/>
            <a:ext cx="4274820" cy="102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b="1" dirty="0">
                <a:solidFill>
                  <a:srgbClr val="171A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从一句产品想法，到一份方案包。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11101" y="2705695"/>
            <a:ext cx="3886200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1800"/>
              </a:spcBef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90 天内只打磨这一条主线。它是后续保存、导出、案例库、供应商线索和企业版的基础。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60950" y="1320701"/>
            <a:ext cx="5334000" cy="1152376"/>
          </a:xfrm>
          <a:prstGeom prst="roundRect">
            <a:avLst>
              <a:gd name="adj" fmla="val 14327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73626" y="1533376"/>
            <a:ext cx="50068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73626" y="1730127"/>
            <a:ext cx="50068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5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产品 Brief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73626" y="1987302"/>
            <a:ext cx="5006822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目标人群、剂型、成本、渠道、法规路径。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60950" y="2612678"/>
            <a:ext cx="5334000" cy="1152376"/>
          </a:xfrm>
          <a:prstGeom prst="roundRect">
            <a:avLst>
              <a:gd name="adj" fmla="val 14327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73626" y="2825353"/>
            <a:ext cx="50068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73626" y="3022104"/>
            <a:ext cx="50068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5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配方路线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73626" y="3279279"/>
            <a:ext cx="5006822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保守 / 主流 / 创新三条路线，可比较、可追问。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60950" y="3904655"/>
            <a:ext cx="5334000" cy="1152376"/>
          </a:xfrm>
          <a:prstGeom prst="roundRect">
            <a:avLst>
              <a:gd name="adj" fmla="val 14327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73626" y="4117330"/>
            <a:ext cx="50068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73626" y="4314081"/>
            <a:ext cx="50068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5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合规可信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73626" y="4571256"/>
            <a:ext cx="5006822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风险表达、法规依据、未收录原料、人工复核点。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60950" y="5196632"/>
            <a:ext cx="5334000" cy="1152376"/>
          </a:xfrm>
          <a:prstGeom prst="roundRect">
            <a:avLst>
              <a:gd name="adj" fmla="val 14327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73626" y="5409307"/>
            <a:ext cx="50068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73626" y="5606058"/>
            <a:ext cx="50068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5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供应商与导出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73626" y="5863233"/>
            <a:ext cx="5006822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匹配可采购原料，导出内部立项资料。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350" y="6499324"/>
            <a:ext cx="20542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IDEA → FORMULA → TRUST → SUPPLY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998000" y="6499324"/>
            <a:ext cx="25843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FIRST PRINCIPLE: MAKE THE OUTPUT USABLE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11436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PRODUCT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0350" y="1117550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 MVP TO OPERATING SYSTEM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0350" y="1403300"/>
            <a:ext cx="7772400" cy="102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不是单个功能，</a:t>
            </a:r>
            <a:endParaRPr lang="en-US" sz="3800" dirty="0"/>
          </a:p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而是一套食品研发操作系统。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60350" y="2920901"/>
            <a:ext cx="3513683" cy="1964234"/>
          </a:xfrm>
          <a:prstGeom prst="roundRect">
            <a:avLst>
              <a:gd name="adj" fmla="val 8405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3026" y="3133576"/>
            <a:ext cx="31500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WORKBENCH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3026" y="3381226"/>
            <a:ext cx="31500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配方工作台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3026" y="3790801"/>
            <a:ext cx="3088332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结构化方案包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多轮追问修订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保存与版本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39084" y="2920901"/>
            <a:ext cx="3513683" cy="1964234"/>
          </a:xfrm>
          <a:prstGeom prst="roundRect">
            <a:avLst>
              <a:gd name="adj" fmla="val 8405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51759" y="3133576"/>
            <a:ext cx="31500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51759" y="3381226"/>
            <a:ext cx="31500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行业知识底座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51759" y="3790801"/>
            <a:ext cx="3088332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原料图谱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法规边界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配方案例库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17818" y="2920901"/>
            <a:ext cx="3513832" cy="1964234"/>
          </a:xfrm>
          <a:prstGeom prst="roundRect">
            <a:avLst>
              <a:gd name="adj" fmla="val 8405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30493" y="3133576"/>
            <a:ext cx="3150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30493" y="3381226"/>
            <a:ext cx="31502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供应商增长层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30493" y="3790801"/>
            <a:ext cx="3088481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推荐曝光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样品 / 报价线索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趋势与应用报告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350" y="6499324"/>
            <a:ext cx="13254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PRODUCT ARCHITECTURE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842450" y="6499324"/>
            <a:ext cx="172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WORKBENCH + DATA + NETWORK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8986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TRUST LAYER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1101" y="1193750"/>
            <a:ext cx="4792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TRUST AS INTERFACE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1101" y="1479500"/>
            <a:ext cx="4792929" cy="1534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在严格法规里，
</a:t>
            </a:r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b="1" dirty="0">
                <a:solidFill>
                  <a:srgbClr val="F0A55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可信本身就是产品体验。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11101" y="3267968"/>
            <a:ext cx="4792929" cy="69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2"/>
              </a:lnSpc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知料不追求让 AI “大胆说”，而是让用户知道哪些可以信、哪些要复核、哪些不能碰。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73998" y="1269950"/>
            <a:ext cx="2527250" cy="1800076"/>
          </a:xfrm>
          <a:prstGeom prst="roundRect">
            <a:avLst>
              <a:gd name="adj" fmla="val 9172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6674" y="1482626"/>
            <a:ext cx="21439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86674" y="1965127"/>
            <a:ext cx="2143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法规引用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86674" y="2311152"/>
            <a:ext cx="2143938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7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标准、条款、实施日期、适用条件。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53649" y="1269950"/>
            <a:ext cx="2527250" cy="1800076"/>
          </a:xfrm>
          <a:prstGeom prst="roundRect">
            <a:avLst>
              <a:gd name="adj" fmla="val 9172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166324" y="1482626"/>
            <a:ext cx="21439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64B98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66324" y="1965127"/>
            <a:ext cx="2143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原料覆盖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66324" y="2311152"/>
            <a:ext cx="2143938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7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已收录、未收录、仅限保健食品、需确认。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73998" y="3222427"/>
            <a:ext cx="2527250" cy="1800076"/>
          </a:xfrm>
          <a:prstGeom prst="roundRect">
            <a:avLst>
              <a:gd name="adj" fmla="val 9172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86674" y="3435102"/>
            <a:ext cx="21439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78A6C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86674" y="3917603"/>
            <a:ext cx="2143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表达边界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86674" y="4263628"/>
            <a:ext cx="2143938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7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可用表达、不建议表达、高风险词。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53649" y="3222427"/>
            <a:ext cx="2527250" cy="1800076"/>
          </a:xfrm>
          <a:prstGeom prst="roundRect">
            <a:avLst>
              <a:gd name="adj" fmla="val 9172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166324" y="3435102"/>
            <a:ext cx="21439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E0737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166324" y="3917603"/>
            <a:ext cx="2143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人工复核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66324" y="4263628"/>
            <a:ext cx="2143938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7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把不确定性显性化，而不是藏在免责声明里。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350" y="6499324"/>
            <a:ext cx="927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TRUST SCORE V1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517707" y="6499324"/>
            <a:ext cx="20542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CONFIDENCE WITHOUT OVERCLAIMING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3268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D514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MOAT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6550" y="1168301"/>
            <a:ext cx="46634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COMPOUNDING ASSETS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6550" y="1454051"/>
            <a:ext cx="4663440" cy="1534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171A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护城河不是模型，</a:t>
            </a:r>
            <a:endParaRPr lang="en-US" sz="3800" dirty="0"/>
          </a:p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171A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而是持续复利的数据与工作流。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749" y="1092101"/>
            <a:ext cx="5460950" cy="930176"/>
          </a:xfrm>
          <a:prstGeom prst="roundRect">
            <a:avLst>
              <a:gd name="adj" fmla="val 17749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30975" y="1266676"/>
            <a:ext cx="51882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 · 原料知识图谱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30975" y="1574602"/>
            <a:ext cx="5188229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400"/>
              </a:spcBef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功能、剂型、用量、协同、认证、供应商。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749" y="2123777"/>
            <a:ext cx="5460950" cy="930176"/>
          </a:xfrm>
          <a:prstGeom prst="roundRect">
            <a:avLst>
              <a:gd name="adj" fmla="val 17749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30975" y="2298353"/>
            <a:ext cx="51882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· 中国法规可信层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30975" y="2606278"/>
            <a:ext cx="5188229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400"/>
              </a:spcBef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普通食品 / 保健食品 / 新食品原料 / 营养强化剂边界。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749" y="3155454"/>
            <a:ext cx="5460950" cy="930176"/>
          </a:xfrm>
          <a:prstGeom prst="roundRect">
            <a:avLst>
              <a:gd name="adj" fmla="val 17749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30975" y="3330029"/>
            <a:ext cx="51882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· 配方案例库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30975" y="3637955"/>
            <a:ext cx="5188229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400"/>
              </a:spcBef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从 0 条到 100 条，再到行业项目资产。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749" y="4187130"/>
            <a:ext cx="5460950" cy="930176"/>
          </a:xfrm>
          <a:prstGeom prst="roundRect">
            <a:avLst>
              <a:gd name="adj" fmla="val 17749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30975" y="4361706"/>
            <a:ext cx="51882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供应商网络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30975" y="4669631"/>
            <a:ext cx="5188229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400"/>
              </a:spcBef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推荐曝光、询样、报价、趋势反馈。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749" y="5218807"/>
            <a:ext cx="5460950" cy="930176"/>
          </a:xfrm>
          <a:prstGeom prst="roundRect">
            <a:avLst>
              <a:gd name="adj" fmla="val 17749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30975" y="5393382"/>
            <a:ext cx="51882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· 用户研发项目数据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30975" y="5701308"/>
            <a:ext cx="5188229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400"/>
              </a:spcBef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真实需求、方案版本、选择路径、落地反馈。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350" y="6499324"/>
            <a:ext cx="927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 COMPOUNDS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427196" y="6499324"/>
            <a:ext cx="11265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WORKFLOW LOCKS IN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11436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0350" y="1168301"/>
            <a:ext cx="8419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HOW VALUE TURNS INTO REVENUE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0350" y="1454051"/>
            <a:ext cx="8419999" cy="102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先让研发用户用起来，</a:t>
            </a:r>
            <a:endParaRPr lang="en-US" sz="3800" dirty="0"/>
          </a:p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再让供应商为高质量线索付费。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60350" y="3174950"/>
            <a:ext cx="3513683" cy="1787277"/>
          </a:xfrm>
          <a:prstGeom prst="roundRect">
            <a:avLst>
              <a:gd name="adj" fmla="val 9237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3026" y="3387626"/>
            <a:ext cx="835968" cy="279350"/>
          </a:xfrm>
          <a:prstGeom prst="roundRect">
            <a:avLst>
              <a:gd name="adj" fmla="val 4541722"/>
            </a:avLst>
          </a:prstGeom>
          <a:solidFill>
            <a:srgbClr val="F0A550">
              <a:alpha val="9000"/>
            </a:srgbClr>
          </a:solidFill>
          <a:ln w="9525">
            <a:solidFill>
              <a:srgbClr val="F0A5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9501" y="3460552"/>
            <a:ext cx="5742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3026" y="3844677"/>
            <a:ext cx="31500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4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免费研发工作台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3026" y="4203353"/>
            <a:ext cx="3150099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获取真实需求、方案数据和高频用户。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39084" y="3174950"/>
            <a:ext cx="3513683" cy="1787277"/>
          </a:xfrm>
          <a:prstGeom prst="roundRect">
            <a:avLst>
              <a:gd name="adj" fmla="val 9237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51759" y="3387626"/>
            <a:ext cx="835968" cy="279350"/>
          </a:xfrm>
          <a:prstGeom prst="roundRect">
            <a:avLst>
              <a:gd name="adj" fmla="val 4541722"/>
            </a:avLst>
          </a:prstGeom>
          <a:solidFill>
            <a:srgbClr val="64B987">
              <a:alpha val="9000"/>
            </a:srgbClr>
          </a:solidFill>
          <a:ln w="9525">
            <a:solidFill>
              <a:srgbClr val="64B98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88235" y="3460552"/>
            <a:ext cx="5742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B98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51759" y="3844677"/>
            <a:ext cx="31500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4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供应商 SaaS / 线索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51759" y="4203353"/>
            <a:ext cx="3150099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企业主页、推荐曝光、样品/报价线索、趋势报告。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17818" y="3174950"/>
            <a:ext cx="3513832" cy="1787277"/>
          </a:xfrm>
          <a:prstGeom prst="roundRect">
            <a:avLst>
              <a:gd name="adj" fmla="val 9237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30493" y="3387626"/>
            <a:ext cx="835968" cy="279350"/>
          </a:xfrm>
          <a:prstGeom prst="roundRect">
            <a:avLst>
              <a:gd name="adj" fmla="val 4541722"/>
            </a:avLst>
          </a:prstGeom>
          <a:solidFill>
            <a:srgbClr val="78A6C8">
              <a:alpha val="9000"/>
            </a:srgbClr>
          </a:solidFill>
          <a:ln w="9525">
            <a:solidFill>
              <a:srgbClr val="78A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66968" y="3460552"/>
            <a:ext cx="5742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8A6C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30493" y="3844677"/>
            <a:ext cx="31502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400"/>
              </a:spcBef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企业研发 SaaS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30493" y="4203353"/>
            <a:ext cx="3150251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私有原料库、项目管理、导出评审、API/私有部署。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350" y="6499324"/>
            <a:ext cx="1988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REVENUE: SUPPLIER + ENTERPRISE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192816" y="6499324"/>
            <a:ext cx="23856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 NOT MONETIZE BEFORE VALUE IS FELT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8986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D514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90-DAY PLAN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6634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WHAT WE PROVE FIRST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4663440" cy="102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171A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90 天，不做大而全，</a:t>
            </a:r>
            <a:endParaRPr lang="en-US" sz="3800" dirty="0"/>
          </a:p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171A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只跑一个闭环。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85800" y="2680395"/>
            <a:ext cx="4663440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1800"/>
              </a:spcBef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证明研发用户愿意使用方案包，供应商愿意为推荐曝光和线索付费。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15000" y="1168301"/>
            <a:ext cx="5079950" cy="1165175"/>
          </a:xfrm>
          <a:prstGeom prst="roundRect">
            <a:avLst>
              <a:gd name="adj" fmla="val 14170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27675" y="1380976"/>
            <a:ext cx="4747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 1-2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27675" y="1590526"/>
            <a:ext cx="47476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Formula Brief v1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27675" y="1847701"/>
            <a:ext cx="4747692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结构化方案包、Trust Score、保存方案。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15000" y="2485876"/>
            <a:ext cx="5079950" cy="1165175"/>
          </a:xfrm>
          <a:prstGeom prst="roundRect">
            <a:avLst>
              <a:gd name="adj" fmla="val 14170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27675" y="2698552"/>
            <a:ext cx="4747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 3-4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27675" y="2908102"/>
            <a:ext cx="47476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 条配方案例库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27675" y="3165277"/>
            <a:ext cx="4747692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让 AI 参考真实行业案例，而不是凭空联想。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715000" y="3803452"/>
            <a:ext cx="5079950" cy="1165175"/>
          </a:xfrm>
          <a:prstGeom prst="roundRect">
            <a:avLst>
              <a:gd name="adj" fmla="val 14170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27675" y="4016127"/>
            <a:ext cx="4747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 5-8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27675" y="4225677"/>
            <a:ext cx="47476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供应商线索 + 导出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27675" y="4482852"/>
            <a:ext cx="4747692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样品/报价线索、供应商后台、PDF/Word/Excel。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15000" y="5121027"/>
            <a:ext cx="5079950" cy="1165175"/>
          </a:xfrm>
          <a:prstGeom prst="roundRect">
            <a:avLst>
              <a:gd name="adj" fmla="val 14170"/>
            </a:avLst>
          </a:prstGeom>
          <a:solidFill>
            <a:srgbClr val="FFFFFF">
              <a:alpha val="48000"/>
            </a:srgbClr>
          </a:solidFill>
          <a:ln w="9525">
            <a:solidFill>
              <a:srgbClr val="0E12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27675" y="5333702"/>
            <a:ext cx="4747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45F2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 9-12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27675" y="5543252"/>
            <a:ext cx="47476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171A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商业验证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27675" y="5800427"/>
            <a:ext cx="4747692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250" dirty="0">
                <a:solidFill>
                  <a:srgbClr val="5951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 个访谈、100 注册用户、3 个付费/意向供应商。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350" y="6499324"/>
            <a:ext cx="1259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BUILD → TEST → SELL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842450" y="6499324"/>
            <a:ext cx="172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ONE LOOP BEFORE A PLATFORM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8986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PARTNER FIT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0350" y="1168301"/>
            <a:ext cx="6606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WHO SHOULD JOIN EARLY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0350" y="1454051"/>
            <a:ext cx="6606540" cy="1534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我们寻找的不是旁观者，</a:t>
            </a:r>
            <a:endParaRPr lang="en-US" sz="3800" dirty="0"/>
          </a:p>
          <a:p>
            <a:pPr algn="l" indent="0" marL="0">
              <a:lnSpc>
                <a:spcPts val="4028"/>
              </a:lnSpc>
              <a:spcBef>
                <a:spcPts val="1200"/>
              </a:spcBef>
              <a:buNone/>
            </a:pPr>
            <a:r>
              <a:rPr lang="en-US" sz="38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而是能一起定义行业入口的人。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60350" y="3174950"/>
            <a:ext cx="5334000" cy="1082576"/>
          </a:xfrm>
          <a:prstGeom prst="roundRect">
            <a:avLst>
              <a:gd name="adj" fmla="val 15251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3026" y="3387626"/>
            <a:ext cx="50068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0A55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食品研发 / 法规专家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3026" y="3771751"/>
            <a:ext cx="5006822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10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帮助定义方案质量、合规边界和真实打样标准。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97501" y="3174950"/>
            <a:ext cx="5334149" cy="1082576"/>
          </a:xfrm>
          <a:prstGeom prst="roundRect">
            <a:avLst>
              <a:gd name="adj" fmla="val 15251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10176" y="3387626"/>
            <a:ext cx="50069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64B98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原料供应商 / 应用工程团队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10176" y="3771751"/>
            <a:ext cx="5006974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10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把真实产品资料、应用场景和样品能力接入 AI 推荐链路。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0350" y="4460677"/>
            <a:ext cx="5334000" cy="1082576"/>
          </a:xfrm>
          <a:prstGeom prst="roundRect">
            <a:avLst>
              <a:gd name="adj" fmla="val 15251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73026" y="4673352"/>
            <a:ext cx="50068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8A6C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品牌方 / 代工厂试点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026" y="5057477"/>
            <a:ext cx="5006822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10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用真实新品需求验证方案包是否能缩短立项和打样周期。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97501" y="4460677"/>
            <a:ext cx="5334149" cy="1082576"/>
          </a:xfrm>
          <a:prstGeom prst="roundRect">
            <a:avLst>
              <a:gd name="adj" fmla="val 15251"/>
            </a:avLst>
          </a:prstGeom>
          <a:solidFill>
            <a:srgbClr val="19222C">
              <a:alpha val="72000"/>
            </a:srgbClr>
          </a:solidFill>
          <a:ln w="9525">
            <a:solidFill>
              <a:srgbClr val="F2ED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10176" y="4673352"/>
            <a:ext cx="50069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2ED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产业投资人与资源伙伴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0176" y="5057477"/>
            <a:ext cx="5006974" cy="2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spcBef>
                <a:spcPts val="1000"/>
              </a:spcBef>
              <a:buNone/>
            </a:pPr>
            <a:r>
              <a:rPr lang="en-US" sz="1250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提供客户、供应商、行业视角，而不只是资金。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350" y="6499324"/>
            <a:ext cx="21867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EARLY PARTNERS SHAPE THE STANDARD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387780" y="6499324"/>
            <a:ext cx="21867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CO-BUILD THE FOOD R&amp;D AI WORKFLOW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663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793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0A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3036" y="317450"/>
            <a:ext cx="125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90451" y="326975"/>
            <a:ext cx="13887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AD9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ZHILIAO · CLOSING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76831" y="326975"/>
            <a:ext cx="463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7880" y="1498550"/>
            <a:ext cx="9844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THE INVITATION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17880" y="1860500"/>
            <a:ext cx="9844989" cy="201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92"/>
              </a:lnSpc>
              <a:spcBef>
                <a:spcPts val="1800"/>
              </a:spcBef>
              <a:buNone/>
            </a:pPr>
            <a:r>
              <a:rPr lang="en-US" sz="54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食品研发的新入口，
</a:t>
            </a:r>
            <a:pPr algn="ctr" indent="0" marL="0">
              <a:lnSpc>
                <a:spcPts val="5292"/>
              </a:lnSpc>
              <a:spcBef>
                <a:spcPts val="1800"/>
              </a:spcBef>
              <a:buNone/>
            </a:pPr>
            <a:r>
              <a:rPr lang="en-US" sz="5400" b="1" dirty="0">
                <a:solidFill>
                  <a:srgbClr val="F0A55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应该由行业里的人</a:t>
            </a:r>
            <a:pPr algn="ctr" indent="0" marL="0">
              <a:lnSpc>
                <a:spcPts val="5292"/>
              </a:lnSpc>
              <a:spcBef>
                <a:spcPts val="1800"/>
              </a:spcBef>
              <a:buNone/>
            </a:pPr>
            <a:endParaRPr lang="en-US" sz="5400" dirty="0"/>
          </a:p>
          <a:p>
            <a:pPr algn="ctr" indent="0" marL="0">
              <a:lnSpc>
                <a:spcPts val="5292"/>
              </a:lnSpc>
              <a:spcBef>
                <a:spcPts val="1800"/>
              </a:spcBef>
              <a:buNone/>
            </a:pPr>
            <a:r>
              <a:rPr lang="en-US" sz="540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一起定义。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530301" y="4231928"/>
            <a:ext cx="8419999" cy="3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2"/>
              </a:lnSpc>
              <a:spcBef>
                <a:spcPts val="2800"/>
              </a:spcBef>
              <a:buNone/>
            </a:pPr>
            <a:r>
              <a:rPr lang="en-US" sz="1600" b="1" dirty="0">
                <a:solidFill>
                  <a:srgbClr val="B8AD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知料正在寻找第一批共创伙伴：真实需求、真实原料、真实法规判断、真实商业验证。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4301" y="5012978"/>
            <a:ext cx="1398984" cy="279350"/>
          </a:xfrm>
          <a:prstGeom prst="roundRect">
            <a:avLst>
              <a:gd name="adj" fmla="val 4541722"/>
            </a:avLst>
          </a:prstGeom>
          <a:solidFill>
            <a:srgbClr val="F0A550">
              <a:alpha val="9000"/>
            </a:srgbClr>
          </a:solidFill>
          <a:ln w="9525">
            <a:solidFill>
              <a:srgbClr val="F0A5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79516" y="5085904"/>
            <a:ext cx="1148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Formula Brief v1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05685" y="5012978"/>
            <a:ext cx="1469380" cy="279350"/>
          </a:xfrm>
          <a:prstGeom prst="roundRect">
            <a:avLst>
              <a:gd name="adj" fmla="val 4541722"/>
            </a:avLst>
          </a:prstGeom>
          <a:solidFill>
            <a:srgbClr val="64B987">
              <a:alpha val="9000"/>
            </a:srgbClr>
          </a:solidFill>
          <a:ln w="9525">
            <a:solidFill>
              <a:srgbClr val="64B98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30196" y="5085904"/>
            <a:ext cx="1220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B98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90-Day Validation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27465" y="5012978"/>
            <a:ext cx="1398984" cy="279350"/>
          </a:xfrm>
          <a:prstGeom prst="roundRect">
            <a:avLst>
              <a:gd name="adj" fmla="val 4541722"/>
            </a:avLst>
          </a:prstGeom>
          <a:solidFill>
            <a:srgbClr val="78A6C8">
              <a:alpha val="9000"/>
            </a:srgbClr>
          </a:solidFill>
          <a:ln w="9525">
            <a:solidFill>
              <a:srgbClr val="78A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52680" y="5085904"/>
            <a:ext cx="1148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8A6C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Partner Co-build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0350" y="6380262"/>
            <a:ext cx="10871299" cy="0"/>
          </a:xfrm>
          <a:prstGeom prst="line">
            <a:avLst/>
          </a:prstGeom>
          <a:noFill/>
          <a:ln w="9525">
            <a:solidFill>
              <a:srgbClr val="F2ED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350" y="6499324"/>
            <a:ext cx="8614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ZHILIAO-AI.CN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907488" y="6499324"/>
            <a:ext cx="16566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E746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LET'S BUILD THE WORKBENCH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2026-05-28T17:45:22Z</dcterms:created>
  <dcterms:modified xsi:type="dcterms:W3CDTF">2026-05-28T17:45:22Z</dcterms:modified>
</cp:coreProperties>
</file>